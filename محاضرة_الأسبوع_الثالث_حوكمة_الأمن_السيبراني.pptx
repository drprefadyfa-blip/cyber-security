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0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83592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4500" b="0" i="0" u="none" dirty="0" err="1">
                <a:solidFill>
                  <a:srgbClr val="1E40AF"/>
                </a:solidFill>
                <a:latin typeface="Cairo ExtraBold"/>
              </a:rPr>
              <a:t>حوكمة</a:t>
            </a:r>
            <a:r>
              <a:rPr sz="4500" b="0" i="0" u="none" dirty="0">
                <a:solidFill>
                  <a:srgbClr val="1E40AF"/>
                </a:solidFill>
                <a:latin typeface="Cairo ExtraBold"/>
              </a:rPr>
              <a:t> </a:t>
            </a:r>
            <a:r>
              <a:rPr sz="4500" b="0" i="0" u="none" dirty="0" err="1">
                <a:solidFill>
                  <a:srgbClr val="1E40AF"/>
                </a:solidFill>
                <a:latin typeface="Cairo ExtraBold"/>
              </a:rPr>
              <a:t>الأمن</a:t>
            </a:r>
            <a:r>
              <a:rPr sz="4500" b="0" i="0" u="none" dirty="0">
                <a:solidFill>
                  <a:srgbClr val="1E40AF"/>
                </a:solidFill>
                <a:latin typeface="Cairo ExtraBold"/>
              </a:rPr>
              <a:t> </a:t>
            </a:r>
            <a:r>
              <a:rPr sz="4500" b="0" i="0" u="none" dirty="0" err="1">
                <a:solidFill>
                  <a:srgbClr val="1E40AF"/>
                </a:solidFill>
                <a:latin typeface="Cairo ExtraBold"/>
              </a:rPr>
              <a:t>السيبراني</a:t>
            </a:r>
            <a:endParaRPr sz="4500" b="0" i="0" u="none" dirty="0">
              <a:solidFill>
                <a:srgbClr val="1E40A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146377"/>
            <a:ext cx="11049000" cy="253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IQ" sz="2800" b="1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الاسبوع الثالث</a:t>
            </a:r>
            <a:endParaRPr lang="en-US" sz="2800" b="1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sz="2800" b="1" i="0" u="none" dirty="0" err="1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إطارNIST</a:t>
            </a:r>
            <a:r>
              <a:rPr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CSF 2.0 </a:t>
            </a:r>
            <a:r>
              <a:rPr lang="ar-IQ"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 للامن السيبراني و</a:t>
            </a:r>
            <a:r>
              <a:rPr sz="2800" b="1" i="0" u="none" dirty="0" err="1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وظيفة</a:t>
            </a:r>
            <a:r>
              <a:rPr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800" b="1" i="0" u="none" dirty="0" err="1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الحوكمة</a:t>
            </a:r>
            <a:r>
              <a:rPr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(Govern)</a:t>
            </a:r>
            <a:endParaRPr lang="ar-IQ" sz="2800" b="1" i="0" u="none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lang="ar-IQ" sz="2800" b="1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أستاذ المادة</a:t>
            </a:r>
            <a:endParaRPr lang="ar-IQ" sz="2800" b="1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lang="ar-IQ"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أ.د. ضياء جاسم كاظم</a:t>
            </a:r>
            <a:endParaRPr sz="2800" b="1" i="0" u="none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490" y="804869"/>
            <a:ext cx="1307690" cy="1023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35467" y="2884140"/>
            <a:ext cx="8521065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المحور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الأو</a:t>
            </a:r>
            <a:r>
              <a:rPr lang="ar-IQ" sz="3900" b="0" i="0" u="none" dirty="0">
                <a:solidFill>
                  <a:srgbClr val="FFFFFF"/>
                </a:solidFill>
                <a:latin typeface="Cairo ExtraBold"/>
              </a:rPr>
              <a:t>ل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: </a:t>
            </a:r>
            <a:r>
              <a:rPr lang="ar-IQ"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نشأة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NIST </a:t>
            </a:r>
            <a:r>
              <a:rPr lang="ar-IQ"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ونشأة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الإطار</a:t>
            </a:r>
            <a:r>
              <a:rPr lang="en-US" sz="3900" b="0" i="0" u="none" dirty="0" err="1">
                <a:solidFill>
                  <a:srgbClr val="FFFFFF"/>
                </a:solidFill>
                <a:latin typeface="Cairo ExtraBold"/>
              </a:rPr>
              <a:t>CSF</a:t>
            </a:r>
            <a:endParaRPr sz="3900" b="0" i="0" u="none" dirty="0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00337" y="4008090"/>
            <a:ext cx="67913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فهم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الجذور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التاريخية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والطبيعة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التنظيمية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للمعهد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الوطني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للمعايير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والتقنية</a:t>
            </a:r>
            <a:endParaRPr sz="1800" b="0" i="0" u="none" dirty="0">
              <a:solidFill>
                <a:srgbClr val="94A3B8"/>
              </a:solidFill>
              <a:latin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80620" y="5319252"/>
            <a:ext cx="5158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NIST : National Institute of Standards and Technology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CSF: Cyber Security Framework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5975"/>
            <a:ext cx="5357812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346" y="2085975"/>
            <a:ext cx="1101715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تعريف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المعهد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وكالة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فيدرالية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أمريكية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غير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تنظيمية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تتبع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وزارة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التجارة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تُعنى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بتطوير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IQ"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لمعايير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القياسية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والتقنية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لتعزيز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الابتكار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والأمن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  <a:endParaRPr sz="200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7561" y="2886075"/>
            <a:ext cx="8704314" cy="307777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معايير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مرجعية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طوعية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تملك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صفة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القانون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الملزم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بذاتها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ولكنها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تُعتمد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كمرجع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عالمي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رئيسي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  <a:endParaRPr sz="200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7561" y="3686175"/>
            <a:ext cx="8704313" cy="307777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لغة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مشتركة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للشركات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تتيح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للمؤسسات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بمختلف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أحجامها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تقييم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نضجها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الأمني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وربطه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بأهداف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  <a:endParaRPr sz="200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82447" y="4486275"/>
            <a:ext cx="8509428" cy="307777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المرونة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والتكيف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صُمم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الإطار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ليتناسب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قطاعات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التكنولوجيا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المالية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والصحية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وغيرها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  <a:endParaRPr sz="200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0" y="291465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900" y="3714750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3325" y="4514850"/>
            <a:ext cx="2571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المعهد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الوطني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للمعايير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والتقنية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(NIST)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685925"/>
            <a:ext cx="331470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4133850"/>
            <a:ext cx="3314700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85925"/>
            <a:ext cx="3314700" cy="1971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2958" y="1885950"/>
            <a:ext cx="306038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40AF"/>
                </a:solidFill>
                <a:latin typeface="Cairo"/>
              </a:rPr>
              <a:t>2014 - CSF 1.0</a:t>
            </a:r>
            <a:endParaRPr sz="1800" b="1" i="0" u="none">
              <a:solidFill>
                <a:srgbClr val="1E40AF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5825" y="2428875"/>
            <a:ext cx="2914650" cy="89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النسخة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الأولى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ركّزت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بشكل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أساسي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البنية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التحتية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الحيوي</a:t>
            </a:r>
            <a:r>
              <a:rPr lang="ar-IQ" b="0" i="0" u="none" dirty="0">
                <a:solidFill>
                  <a:srgbClr val="334155"/>
                </a:solidFill>
                <a:latin typeface="Tajawal"/>
              </a:rPr>
              <a:t>ة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الطاقة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الاتصالات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الصحة</a:t>
            </a:r>
            <a:r>
              <a:rPr lang="ar-IQ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65808" y="4333875"/>
            <a:ext cx="306038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40AF"/>
                </a:solidFill>
                <a:latin typeface="Cairo"/>
              </a:rPr>
              <a:t>2018 - CSF 1.1</a:t>
            </a:r>
            <a:endParaRPr sz="1800" b="1" i="0" u="none">
              <a:solidFill>
                <a:srgbClr val="1E40AF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38675" y="4876800"/>
            <a:ext cx="2914650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التحديث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الأولي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أضاف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مفاهيم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قياس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وإدارة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سلسلة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التوريد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والتقييم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الذاتي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658" y="1885950"/>
            <a:ext cx="306038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40AF"/>
                </a:solidFill>
                <a:latin typeface="Cairo"/>
              </a:rPr>
              <a:t>2024 - CSF 2.0</a:t>
            </a:r>
            <a:endParaRPr sz="1800" b="1" i="0" u="none">
              <a:solidFill>
                <a:srgbClr val="1E40AF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1525" y="2428875"/>
            <a:ext cx="2914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النقلة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النوعية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توسع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النطاق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ليشمل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جميع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القطاعات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استحداث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وظيفة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(Govern).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التطور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التاريخي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لإطار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NIST CSF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5837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9122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2407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2814637"/>
            <a:ext cx="5357812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4637"/>
            <a:ext cx="5357812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9599" y="3188568"/>
            <a:ext cx="5005625" cy="276999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شمولية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نطاق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التطبيق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57962" y="3652837"/>
            <a:ext cx="4767262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لم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يعد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الإطار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حصرياً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للبنى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التحتية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الحيوية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أصبح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أدلة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عالمية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قابلة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للتطبيق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الناشئة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الصغيرة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والشركات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العالمية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سواء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411" y="3198400"/>
            <a:ext cx="5005625" cy="276999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إضافة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وظيفة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الحوكمة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(Govern)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652837"/>
            <a:ext cx="4767262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إفراد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كوظيفة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مستقلة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ومركزية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تُوجّه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الوظائف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الخمس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الأخرى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لضمان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ارتباط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بالاستراتيجية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العليا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للمؤسسة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200" y="32051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4012" y="3205162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المستجدات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والتغيرات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الجوهرية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في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CSF 2.0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5303" y="2884140"/>
            <a:ext cx="1114139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Cairo ExtraBold"/>
              </a:rPr>
              <a:t>المحور الثاني: الهيكلية الجديدة والوظائف الست</a:t>
            </a:r>
            <a:endParaRPr sz="3900" b="0" i="0" u="none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84439" y="4008090"/>
            <a:ext cx="7488186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880"/>
              </a:lnSpc>
            </a:pP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استعراض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البنية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المفاهيمية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لإطار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CSF 2.0 </a:t>
            </a:r>
            <a:r>
              <a:rPr lang="ar-IQ"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وكيف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تتكامل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الوظائف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التشغيلية</a:t>
            </a:r>
            <a:endParaRPr sz="2400" b="0" i="0" u="none" dirty="0">
              <a:solidFill>
                <a:srgbClr val="94A3B8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1272048"/>
            <a:ext cx="352425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409700"/>
            <a:ext cx="3524250" cy="2647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3524250" cy="2647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4218654"/>
            <a:ext cx="3524250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875" y="4248150"/>
            <a:ext cx="3524250" cy="2952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248150"/>
            <a:ext cx="3524250" cy="2952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2452" y="254317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1. 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الحوكمة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(Govern)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3900" y="308610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تحديد الاستراتيجية، أولويات المخاطر، والسياسات، والمسؤوليات التوجيهية.</a:t>
            </a:r>
            <a:endParaRPr sz="15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30077" y="254317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2.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التعرّف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(Identify)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81525" y="308610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حصر الأصول، الأجهزة، والبيانات، وفهم البيئة التشغيلية والمخاطر.</a:t>
            </a:r>
            <a:endParaRPr sz="15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702" y="254317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3.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الحماية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(Protect)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150" y="308610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وضع الضوابط الوقائية لضمان استمرار تقديم الخدمات الحيوية.</a:t>
            </a:r>
            <a:endParaRPr sz="15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92452" y="53816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4.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الكشف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(Detect)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43900" y="5924550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تحديد وقوع الحوادث والأحداث السيبرانية الشاذة بشكل سريع ومباشر.</a:t>
            </a:r>
            <a:endParaRPr sz="15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0077" y="53816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5.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الاستجابة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(Respond)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81525" y="592455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اتخاذ الإجراءات الفورية واحتواء الحادث السيبراني والحد من أثره.</a:t>
            </a:r>
            <a:endParaRPr sz="15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702" y="53816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b="1" dirty="0">
                <a:solidFill>
                  <a:srgbClr val="1E40AF"/>
                </a:solidFill>
                <a:latin typeface="Cairo"/>
              </a:rPr>
              <a:t>6. 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التعافي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(Recover)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150" y="592455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استعادة القدرات والخدمات المتأثرة وتعزيز المرونة التنظيمية.</a:t>
            </a:r>
            <a:endParaRPr sz="1500"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1850" y="1847850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9475" y="1847850"/>
            <a:ext cx="381000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4725" y="1847850"/>
            <a:ext cx="333375" cy="381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7100" y="4686300"/>
            <a:ext cx="333375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7100" y="4686300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الوظائف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الست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الأساسية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للإطار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2206" y="476250"/>
            <a:ext cx="5350668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1E3A8A"/>
                </a:solidFill>
                <a:latin typeface="Cairo ExtraBold"/>
              </a:rPr>
              <a:t>الحوكمة في قلب الإطار السيبراني</a:t>
            </a:r>
            <a:endParaRPr sz="2700" b="0" i="0" u="none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668125" y="476250"/>
            <a:ext cx="47625" cy="1295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7000" y="2057400"/>
            <a:ext cx="550068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السياق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الاستراتيجي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الموجه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2600325"/>
            <a:ext cx="5238750" cy="1582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2000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النسخة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السابق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1.1،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كانت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عناصر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مبعثرة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ضمن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وظيفة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التعرّف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(ID.GV).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أدركت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NIST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ليس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مجرد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مهمة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تقنية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الأجهزة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هو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مسؤولية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قيادية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عليا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4317281"/>
            <a:ext cx="5238750" cy="1582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2000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تضع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"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شهية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"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وتحدد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الموارد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والمسؤوليات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تبنى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عليها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باقي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الوظائف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IQ" b="0" i="0" u="none" dirty="0">
                <a:solidFill>
                  <a:srgbClr val="334155"/>
                </a:solidFill>
                <a:latin typeface="Tajawal"/>
              </a:rPr>
              <a:t> 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التعرف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الكشف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الاستجابة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والتعاف</a:t>
            </a:r>
            <a:r>
              <a:rPr lang="ar-IQ" b="0" i="0" u="none" dirty="0">
                <a:solidFill>
                  <a:srgbClr val="334155"/>
                </a:solidFill>
                <a:latin typeface="Tajawal"/>
              </a:rPr>
              <a:t>ي.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5353" y="2884140"/>
            <a:ext cx="1034129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Cairo ExtraBold"/>
              </a:rPr>
              <a:t>المحور الثالث: الفئات الست لوظيفة الحوكمة</a:t>
            </a:r>
            <a:endParaRPr sz="3900" b="0" i="0" u="none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6575" y="4008090"/>
            <a:ext cx="60388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sz="1800" b="0" i="0" u="none">
                <a:solidFill>
                  <a:srgbClr val="94A3B8"/>
                </a:solidFill>
                <a:latin typeface="Tajawal"/>
              </a:rPr>
              <a:t>تحليل دقيق وعميق للفئات التفصيلية (GV Categories) في CSF 2.0</a:t>
            </a:r>
            <a:endParaRPr sz="1800" b="0" i="0" u="none">
              <a:solidFill>
                <a:srgbClr val="94A3B8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00325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 dirty="0" err="1">
                <a:solidFill>
                  <a:srgbClr val="334155"/>
                </a:solidFill>
                <a:latin typeface="Tajawal"/>
              </a:rPr>
              <a:t>فهم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رسالة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المؤسسة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وأهدافها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يمكن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وضع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سيبرانية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فعالة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دون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فهم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طبيعة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أهدافها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التجارية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خدماتها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الحكومية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3400425"/>
            <a:ext cx="10620375" cy="289951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الالتزامات القانونية والتنظيمية: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حصر القوانين، اللوائح، والاشتراطات التعاقدية التي تجب مراعاتها (مثل أنظمة هيئة الأمن السيبراني NCA).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200525"/>
            <a:ext cx="10620375" cy="289951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توقعات أصحاب المصلحة: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تحديد متطلبات العملاء، الشركاء، والمستثمرين فيما يتعلق بالخصوصية والسرية.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695825"/>
            <a:ext cx="10620375" cy="289951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ربط القرار السيبراني بالواقع التشغيلي: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ضمان أن القرارات الأمنية تساند استمرارية الأعمال ولا تعوق الابتكار.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0" y="2628900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50" y="3429000"/>
            <a:ext cx="285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4229100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3325" y="4724400"/>
            <a:ext cx="25717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: G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V.OC</a:t>
            </a:r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السياق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التنظيمي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(Organizational Context)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2814637"/>
            <a:ext cx="5357812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4637"/>
            <a:ext cx="5357812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9599" y="3109912"/>
            <a:ext cx="500562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شهية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المخاطر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(Risk Appetite)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57962" y="3652837"/>
            <a:ext cx="4767262" cy="90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حدود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مستويات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تقبل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الإدارة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العليا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تحملها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سبيل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تحقيق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أهدافها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سقف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(Risk Tolerance).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411" y="3109912"/>
            <a:ext cx="500562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خيارات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الاستجابة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والافتراضات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652837"/>
            <a:ext cx="4767262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العامة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لمعالجة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القبول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نقل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كالـتأمين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)،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تجنب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وتوفير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الميزانيات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اللازمة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للتمويل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6625" y="320516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437" y="320516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GV.RM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 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استراتيجية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إدارة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المخاطر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24075"/>
            <a:ext cx="11049000" cy="3543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124075"/>
          <a:ext cx="11048999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166"/>
                <a:gridCol w="4377035"/>
                <a:gridCol w="4057798"/>
              </a:tblGrid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المستوى التنظيمي</a:t>
                      </a:r>
                      <a:endParaRPr sz="1500" b="1" i="0" u="none">
                        <a:solidFill>
                          <a:srgbClr val="FFFFFF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المسؤولية الجوهرية</a:t>
                      </a:r>
                      <a:endParaRPr sz="1500" b="1" i="0" u="none">
                        <a:solidFill>
                          <a:srgbClr val="FFFFFF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آلية المساءلة</a:t>
                      </a:r>
                      <a:endParaRPr sz="1500" b="1" i="0" u="none">
                        <a:solidFill>
                          <a:srgbClr val="FFFFFF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334155"/>
                          </a:solidFill>
                          <a:latin typeface="Tajawal"/>
                        </a:rPr>
                        <a:t>مجلس الإدارة / القيادة العليا</a:t>
                      </a:r>
                      <a:endParaRPr sz="1500" b="1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اعتماد الاستراتيجية، إقرار شهية المخاطر، وتوفير الموارد.</a:t>
                      </a:r>
                      <a:endParaRPr sz="1500" b="0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تقارير دورية عن حالة النضج والمخاطر العابرة.</a:t>
                      </a:r>
                      <a:endParaRPr sz="1500" b="0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334155"/>
                          </a:solidFill>
                          <a:latin typeface="Tajawal"/>
                        </a:rPr>
                        <a:t>الرئيس التنفيذي للأمن (CISO)</a:t>
                      </a:r>
                      <a:endParaRPr sz="1500" b="1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تطوير وتطبيق برنامج الأمن السيبراني والإشراف التشغيلي.</a:t>
                      </a:r>
                      <a:endParaRPr sz="1500" b="0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مؤشرات الأداء الرئيسية (KPIs) ونسبة امتثال الضوابط.</a:t>
                      </a:r>
                      <a:endParaRPr sz="1500" b="0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334155"/>
                          </a:solidFill>
                          <a:latin typeface="Tajawal"/>
                        </a:rPr>
                        <a:t>الفرق التشغيلية والموظفون</a:t>
                      </a:r>
                      <a:endParaRPr sz="1500" b="1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التنفيذ اليومي للسياسات والالتزام بالتعليمات الأمنية.</a:t>
                      </a:r>
                      <a:endParaRPr sz="1500" b="0" i="0" u="none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اختبارات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التوعية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والتدقيق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الداخلي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المستمر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.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Tajaw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006333" y="2767012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29298" y="2767012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67012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333" y="3729037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29298" y="3729037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729037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333" y="4691062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29298" y="4691062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91062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333" y="5653087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29298" y="5653087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653087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</a:t>
            </a:r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R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R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: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الأدوار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والمسؤوليات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والصلاحيات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806802"/>
            <a:ext cx="10620375" cy="289951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 dirty="0" err="1">
                <a:solidFill>
                  <a:srgbClr val="334155"/>
                </a:solidFill>
                <a:latin typeface="Tajawal"/>
              </a:rPr>
              <a:t>صياغة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واعتماد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السياسات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إعداد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سياسات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مكتوبة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وشاملة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تعكس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التوجهات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الاستراتيجية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والمتطلبات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التنظيمية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3302102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التواصل والتوعية الشاملة: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نشر السياسات وتعميمها على جميع الموظفين والمقاولين بأسلوب واضح ومفهوم.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797402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الإنفاذ والإلزام: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وضع آليات تحقق لضمان تطبيق السياسات مع وجود جزاءات واضحة للمخالفات.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292702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المراجعة والتحديث الدوري: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مراجعة السياسات سنوياً أو عند حدوث تغيرات تقنية وجوهرية في البيئة التشغيلية.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050" y="2933700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0" y="342900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900" y="392430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900" y="4419600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G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V.PO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سياسات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الأمن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السيبراني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التنظيمية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09700"/>
            <a:ext cx="11049000" cy="4972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237" y="4552950"/>
            <a:ext cx="10677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334155"/>
                </a:solidFill>
                <a:latin typeface="Tajawal"/>
              </a:rPr>
              <a:t>تتضمن وظيفة الرقابة (Oversight) استخدام نتائج التقييمات والتدقيق الدوري لتعديل وتحديث استراتيجية إدارة المخاطر وتوجيه القرار القيادي.</a:t>
            </a:r>
            <a:endParaRPr sz="1500" b="0" i="1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GV.OV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الرقابة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والإشراف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المستمر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5975"/>
            <a:ext cx="5357812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25962" y="2085975"/>
            <a:ext cx="6694538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اعتماد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السحابة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والموردين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الخارجيين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أصبحت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سلسلة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التوريد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أكبر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متجهات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الهجوم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(Attack Vectors).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" y="1710813"/>
            <a:ext cx="4817482" cy="325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4387" y="2838450"/>
            <a:ext cx="5587487" cy="289951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تقييم الموردين: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إدراج المتطلبات الأمنية في العقود والاتفاقيات (SLAs).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04387" y="3638550"/>
            <a:ext cx="5587487" cy="289951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المراقبة المستمرة: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التحقق الدوري من النضج الأمني للطرف الثالث.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4387" y="4438650"/>
            <a:ext cx="5587487" cy="609600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خطة الطوارئ المشتركة: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ضمان التنسيق في حال تعرض المورد لخرق سيبراني.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2867025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3325" y="3667125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0" y="4467225"/>
            <a:ext cx="2857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GV.SC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إدارة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مخاطر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سلسلة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التوريد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5453" y="2884140"/>
            <a:ext cx="874109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Cairo ExtraBold"/>
              </a:rPr>
              <a:t>المحور الرابع: أدوات التطبيق والقياس</a:t>
            </a:r>
            <a:endParaRPr sz="3900" b="0" i="0" u="none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24200" y="4008090"/>
            <a:ext cx="59436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sz="1800" b="0" i="0" u="none">
                <a:solidFill>
                  <a:srgbClr val="94A3B8"/>
                </a:solidFill>
                <a:latin typeface="Tajawal"/>
              </a:rPr>
              <a:t>كيف تحول المؤسسات الإطار النظري إلى ممارسة عملية مقاسة؟</a:t>
            </a:r>
            <a:endParaRPr sz="1800" b="0" i="0" u="none">
              <a:solidFill>
                <a:srgbClr val="94A3B8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62687" y="2295525"/>
            <a:ext cx="5357812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0" i="0" u="none">
                <a:solidFill>
                  <a:srgbClr val="1E40AF"/>
                </a:solidFill>
                <a:latin typeface="Cairo Black"/>
              </a:rPr>
              <a:t>4</a:t>
            </a:r>
            <a:endParaRPr sz="9750" b="0" i="0" u="none">
              <a:solidFill>
                <a:srgbClr val="1E40AF"/>
              </a:solidFill>
              <a:latin typeface="Cairo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2687" y="3533775"/>
            <a:ext cx="535781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D97706"/>
                </a:solidFill>
                <a:latin typeface="Cairo"/>
              </a:rPr>
              <a:t>مستويات لتحديد نضج إدارة المخاطر</a:t>
            </a:r>
            <a:endParaRPr sz="1950" b="1" i="0" u="none">
              <a:solidFill>
                <a:srgbClr val="D97706"/>
              </a:solidFill>
              <a:latin typeface="Cair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295525"/>
            <a:ext cx="4929187" cy="609600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ajawal"/>
              </a:rPr>
              <a:t>المستوى</a:t>
            </a:r>
            <a:r>
              <a:rPr sz="1600" b="1" i="0" u="none" dirty="0">
                <a:solidFill>
                  <a:srgbClr val="334155"/>
                </a:solidFill>
                <a:latin typeface="Tajawal"/>
              </a:rPr>
              <a:t> 1 (</a:t>
            </a:r>
            <a:r>
              <a:rPr sz="1600" b="1" i="0" u="none" dirty="0" err="1">
                <a:solidFill>
                  <a:srgbClr val="334155"/>
                </a:solidFill>
                <a:latin typeface="Tajawal"/>
              </a:rPr>
              <a:t>جزئي</a:t>
            </a:r>
            <a:r>
              <a:rPr sz="1600" b="1" i="0" u="none" dirty="0">
                <a:solidFill>
                  <a:srgbClr val="334155"/>
                </a:solidFill>
                <a:latin typeface="Tajawal"/>
              </a:rPr>
              <a:t> - Partial):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الممارسات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عشوائية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وردود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أفعال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غير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مدونة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.</a:t>
            </a:r>
            <a:endParaRPr sz="160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095625"/>
            <a:ext cx="4929187" cy="60960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>
                <a:solidFill>
                  <a:srgbClr val="334155"/>
                </a:solidFill>
                <a:latin typeface="Tajawal"/>
              </a:rPr>
              <a:t>المستوى 2 (مستنير بالمخاطر - Risk Informed):</a:t>
            </a:r>
            <a:r>
              <a:rPr sz="1600" b="0" i="0" u="none">
                <a:solidFill>
                  <a:srgbClr val="334155"/>
                </a:solidFill>
                <a:latin typeface="Tajawal"/>
              </a:rPr>
              <a:t> وجود سياسات لكن تطبيقها غير منتظم.</a:t>
            </a:r>
            <a:endParaRPr sz="16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895725"/>
            <a:ext cx="4929187" cy="609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>
                <a:solidFill>
                  <a:srgbClr val="334155"/>
                </a:solidFill>
                <a:latin typeface="Tajawal"/>
              </a:rPr>
              <a:t>المستوى 3 (قابل للتكرار - Repeatable):</a:t>
            </a:r>
            <a:r>
              <a:rPr sz="1600" b="0" i="0" u="none">
                <a:solidFill>
                  <a:srgbClr val="334155"/>
                </a:solidFill>
                <a:latin typeface="Tajawal"/>
              </a:rPr>
              <a:t> ممارسات موثقة ومؤسسية ومطبقة بانتظام.</a:t>
            </a:r>
            <a:endParaRPr sz="1600"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4695825"/>
            <a:ext cx="4929187" cy="6096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>
                <a:solidFill>
                  <a:srgbClr val="334155"/>
                </a:solidFill>
                <a:latin typeface="Tajawal"/>
              </a:rPr>
              <a:t>المستوى 4 (متكيف - Adaptive):</a:t>
            </a:r>
            <a:r>
              <a:rPr sz="1600" b="0" i="0" u="none">
                <a:solidFill>
                  <a:srgbClr val="334155"/>
                </a:solidFill>
                <a:latin typeface="Tajawal"/>
              </a:rPr>
              <a:t> الاستجابة الديناميكية والتعلم المستمر من التهديدات.</a:t>
            </a:r>
            <a:endParaRPr sz="1600"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012" y="2324100"/>
            <a:ext cx="1143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12" y="3124200"/>
            <a:ext cx="1524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37" y="3924300"/>
            <a:ext cx="1428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862" y="4724400"/>
            <a:ext cx="1714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مستويات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تطبيق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الإطار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(Implementation Tiers)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2219325"/>
            <a:ext cx="3524250" cy="3352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219325"/>
            <a:ext cx="3524250" cy="3352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19325"/>
            <a:ext cx="3524250" cy="335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2452" y="33242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الملف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الحالي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(Current Profile)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43900" y="3867150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توصيف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دقيق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ومباشر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لحالة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الضوابط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والممارسات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المطبقة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فعلياً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الوقت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الراهن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داخل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0077" y="33242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الملف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المستهدف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(Target Profile)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1525" y="3969204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الأهداف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والأوضاع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المطلوب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الوصول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إليها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بناءً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شهية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ومتطلبات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02" y="33242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تحليل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الفجوة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وخطة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العمل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9150" y="3867150"/>
            <a:ext cx="3028950" cy="1213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>
                <a:solidFill>
                  <a:srgbClr val="334155"/>
                </a:solidFill>
                <a:latin typeface="Tajawal"/>
              </a:rPr>
              <a:t>مقارنة الملفين لتحديد الفجوات (Gaps) وصياغة خطة خارطة طريق (Roadmap) ذات أولويات ميزانية تنفيذية.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850" y="2628900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75" y="26289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2628900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الملفات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التعريفية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(Profiles)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وتحليل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الفجوة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2028825"/>
            <a:ext cx="3524250" cy="3733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028825"/>
            <a:ext cx="3524250" cy="3733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8825"/>
            <a:ext cx="3524250" cy="3733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0" y="2181225"/>
            <a:ext cx="3219450" cy="171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75" y="2181225"/>
            <a:ext cx="321945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181225"/>
            <a:ext cx="321945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87677" y="4038600"/>
            <a:ext cx="3380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1. 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التوجيه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القيادي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48650" y="4581525"/>
            <a:ext cx="3219450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يقوم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المجلس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بوضع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شهية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واعتماد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الاستراتيجية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والسياسات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العامة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للأمن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5302" y="4038600"/>
            <a:ext cx="3380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2.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التنفيذ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التشغيلي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6275" y="4581525"/>
            <a:ext cx="3219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>
                <a:solidFill>
                  <a:srgbClr val="334155"/>
                </a:solidFill>
                <a:latin typeface="Tajawal"/>
              </a:rPr>
              <a:t>يقوم فريق CISO بتطبيق ضوابط Protect &amp; Detect استناداً للسياسات المعتمدة.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927" y="4038600"/>
            <a:ext cx="3380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3.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الرقابة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والتقييم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3900" y="4581525"/>
            <a:ext cx="3219450" cy="597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>
                <a:solidFill>
                  <a:srgbClr val="334155"/>
                </a:solidFill>
                <a:latin typeface="Tajawal"/>
              </a:rPr>
              <a:t>رفع تقارير الأداء ومراجعة مخاطر الموردين لتعديل الاستراتيجية وتحديثها بشكل دوري.</a:t>
            </a:r>
            <a:endParaRPr b="0" i="0" u="none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8650" y="2181225"/>
            <a:ext cx="3219450" cy="1714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2181225"/>
            <a:ext cx="3219450" cy="1714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181225"/>
            <a:ext cx="3219450" cy="1714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سيناريو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تطبيقي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: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الحوكمة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في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الممارسة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العلمية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0346" y="2884140"/>
            <a:ext cx="10451306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المحور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الخامس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: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الخلاصة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والآفاق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المستقبلية</a:t>
            </a:r>
            <a:endParaRPr sz="3900" b="0" i="0" u="none" dirty="0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00450" y="4008090"/>
            <a:ext cx="49911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sz="1800" b="0" i="0" u="none">
                <a:solidFill>
                  <a:srgbClr val="94A3B8"/>
                </a:solidFill>
                <a:latin typeface="Tajawal"/>
              </a:rPr>
              <a:t>أبرز التوصيات الأكاديمية والمفاهيم المحورية للمحاضرة</a:t>
            </a:r>
            <a:endParaRPr sz="1800" b="0" i="0" u="none">
              <a:solidFill>
                <a:srgbClr val="94A3B8"/>
              </a:solidFill>
              <a:latin typeface="Tajaw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6123</Words>
  <Application>WPS Presentation</Application>
  <PresentationFormat>Widescreen</PresentationFormat>
  <Paragraphs>210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Cairo ExtraBold</vt:lpstr>
      <vt:lpstr>Segoe Print</vt:lpstr>
      <vt:lpstr>Traditional Arabic</vt:lpstr>
      <vt:lpstr>Tajawal</vt:lpstr>
      <vt:lpstr>Cairo</vt:lpstr>
      <vt:lpstr>Microsoft YaHei</vt:lpstr>
      <vt:lpstr>Arial Unicode MS</vt:lpstr>
      <vt:lpstr>Calibri</vt:lpstr>
      <vt:lpstr>Cairo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FWZ</dc:creator>
  <dc:description>generated using python-pptx</dc:description>
  <cp:lastModifiedBy>msi</cp:lastModifiedBy>
  <cp:revision>4</cp:revision>
  <dcterms:created xsi:type="dcterms:W3CDTF">2013-01-27T09:14:00Z</dcterms:created>
  <dcterms:modified xsi:type="dcterms:W3CDTF">2026-09-10T15:40:10Z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6B096C2DF8DC40C2823CD4DD80F2C9DE_13</vt:lpwstr>
  </property>
  <property fmtid="{D5CDD505-2E9C-101B-9397-08002B2CF9AE}" pid="3" name="KSOProductBuildVer">
    <vt:lpwstr>1033-12.1.0.28485</vt:lpwstr>
  </property>
</Properties>
</file>